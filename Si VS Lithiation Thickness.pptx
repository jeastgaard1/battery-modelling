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30BB79-ED94-425B-ADDC-C28A80B1132B}" v="1" dt="2025-12-12T12:39:50.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545" autoAdjust="0"/>
    <p:restoredTop sz="69250" autoAdjust="0"/>
  </p:normalViewPr>
  <p:slideViewPr>
    <p:cSldViewPr snapToGrid="0">
      <p:cViewPr varScale="1">
        <p:scale>
          <a:sx n="74" d="100"/>
          <a:sy n="74" d="100"/>
        </p:scale>
        <p:origin x="16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Eastgaard" userId="0d83ef31ad4fa6f9" providerId="LiveId" clId="{DACBE82B-AAB1-4DBD-85B8-FE0C44FF43A8}"/>
    <pc:docChg chg="custSel addSld modSld addMainMaster delMainMaster">
      <pc:chgData name="Joshua Eastgaard" userId="0d83ef31ad4fa6f9" providerId="LiveId" clId="{DACBE82B-AAB1-4DBD-85B8-FE0C44FF43A8}" dt="2025-12-12T12:43:37.567" v="292" actId="20577"/>
      <pc:docMkLst>
        <pc:docMk/>
      </pc:docMkLst>
      <pc:sldChg chg="addSp modSp new mod setBg modClrScheme chgLayout">
        <pc:chgData name="Joshua Eastgaard" userId="0d83ef31ad4fa6f9" providerId="LiveId" clId="{DACBE82B-AAB1-4DBD-85B8-FE0C44FF43A8}" dt="2025-12-12T12:39:59.690" v="274" actId="26606"/>
        <pc:sldMkLst>
          <pc:docMk/>
          <pc:sldMk cId="3612595192" sldId="256"/>
        </pc:sldMkLst>
        <pc:spChg chg="mod">
          <ac:chgData name="Joshua Eastgaard" userId="0d83ef31ad4fa6f9" providerId="LiveId" clId="{DACBE82B-AAB1-4DBD-85B8-FE0C44FF43A8}" dt="2025-12-12T12:39:59.690" v="274" actId="26606"/>
          <ac:spMkLst>
            <pc:docMk/>
            <pc:sldMk cId="3612595192" sldId="256"/>
            <ac:spMk id="2" creationId="{9F1DA5DB-6526-CE43-4590-EDFE6596B3DE}"/>
          </ac:spMkLst>
        </pc:spChg>
        <pc:spChg chg="mod">
          <ac:chgData name="Joshua Eastgaard" userId="0d83ef31ad4fa6f9" providerId="LiveId" clId="{DACBE82B-AAB1-4DBD-85B8-FE0C44FF43A8}" dt="2025-12-12T12:39:59.690" v="274" actId="26606"/>
          <ac:spMkLst>
            <pc:docMk/>
            <pc:sldMk cId="3612595192" sldId="256"/>
            <ac:spMk id="3" creationId="{E480A477-E835-4DEF-2F32-F03EA855EA85}"/>
          </ac:spMkLst>
        </pc:spChg>
        <pc:spChg chg="add">
          <ac:chgData name="Joshua Eastgaard" userId="0d83ef31ad4fa6f9" providerId="LiveId" clId="{DACBE82B-AAB1-4DBD-85B8-FE0C44FF43A8}" dt="2025-12-12T12:39:59.690" v="274" actId="26606"/>
          <ac:spMkLst>
            <pc:docMk/>
            <pc:sldMk cId="3612595192" sldId="256"/>
            <ac:spMk id="9" creationId="{A9286AD2-18A9-4868-A4E3-7A2097A20810}"/>
          </ac:spMkLst>
        </pc:spChg>
        <pc:picChg chg="add">
          <ac:chgData name="Joshua Eastgaard" userId="0d83ef31ad4fa6f9" providerId="LiveId" clId="{DACBE82B-AAB1-4DBD-85B8-FE0C44FF43A8}" dt="2025-12-12T12:39:59.690" v="274" actId="26606"/>
          <ac:picMkLst>
            <pc:docMk/>
            <pc:sldMk cId="3612595192" sldId="256"/>
            <ac:picMk id="4" creationId="{4CF3C99C-CF1E-65D2-43C7-E13A37475D38}"/>
          </ac:picMkLst>
        </pc:picChg>
        <pc:cxnChg chg="add">
          <ac:chgData name="Joshua Eastgaard" userId="0d83ef31ad4fa6f9" providerId="LiveId" clId="{DACBE82B-AAB1-4DBD-85B8-FE0C44FF43A8}" dt="2025-12-12T12:39:59.690" v="274" actId="26606"/>
          <ac:cxnSpMkLst>
            <pc:docMk/>
            <pc:sldMk cId="3612595192" sldId="256"/>
            <ac:cxnSpMk id="11" creationId="{E7A7CD63-7EC3-44F3-95D0-595C4019FF24}"/>
          </ac:cxnSpMkLst>
        </pc:cxnChg>
      </pc:sldChg>
      <pc:sldChg chg="modSp new mod">
        <pc:chgData name="Joshua Eastgaard" userId="0d83ef31ad4fa6f9" providerId="LiveId" clId="{DACBE82B-AAB1-4DBD-85B8-FE0C44FF43A8}" dt="2025-12-12T12:43:37.567" v="292" actId="20577"/>
        <pc:sldMkLst>
          <pc:docMk/>
          <pc:sldMk cId="47957158" sldId="257"/>
        </pc:sldMkLst>
        <pc:spChg chg="mod">
          <ac:chgData name="Joshua Eastgaard" userId="0d83ef31ad4fa6f9" providerId="LiveId" clId="{DACBE82B-AAB1-4DBD-85B8-FE0C44FF43A8}" dt="2025-12-12T12:43:37.567" v="292" actId="20577"/>
          <ac:spMkLst>
            <pc:docMk/>
            <pc:sldMk cId="47957158" sldId="257"/>
            <ac:spMk id="2" creationId="{5EEFEB96-DD5C-CC19-096D-28E3DB790AB8}"/>
          </ac:spMkLst>
        </pc:spChg>
      </pc:sldChg>
      <pc:sldMasterChg chg="del delSldLayout">
        <pc:chgData name="Joshua Eastgaard" userId="0d83ef31ad4fa6f9" providerId="LiveId" clId="{DACBE82B-AAB1-4DBD-85B8-FE0C44FF43A8}" dt="2025-12-12T12:39:59.690" v="274" actId="26606"/>
        <pc:sldMasterMkLst>
          <pc:docMk/>
          <pc:sldMasterMk cId="4122426793" sldId="2147483660"/>
        </pc:sldMasterMkLst>
        <pc:sldLayoutChg chg="del">
          <pc:chgData name="Joshua Eastgaard" userId="0d83ef31ad4fa6f9" providerId="LiveId" clId="{DACBE82B-AAB1-4DBD-85B8-FE0C44FF43A8}" dt="2025-12-12T12:39:59.690" v="274" actId="26606"/>
          <pc:sldLayoutMkLst>
            <pc:docMk/>
            <pc:sldMasterMk cId="4122426793" sldId="2147483660"/>
            <pc:sldLayoutMk cId="134713491" sldId="2147483661"/>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2656436872" sldId="2147483662"/>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1558680349" sldId="2147483663"/>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556555521" sldId="2147483664"/>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735438508" sldId="2147483665"/>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1255350400" sldId="2147483666"/>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559727242" sldId="2147483667"/>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3164728213" sldId="2147483668"/>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2755319608" sldId="2147483669"/>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3338111605" sldId="2147483670"/>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2717017640" sldId="2147483671"/>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1925964803" sldId="2147483672"/>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4287584718" sldId="2147483673"/>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3975709270" sldId="2147483674"/>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3668448643" sldId="2147483675"/>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1548604672" sldId="2147483676"/>
          </pc:sldLayoutMkLst>
        </pc:sldLayoutChg>
        <pc:sldLayoutChg chg="del">
          <pc:chgData name="Joshua Eastgaard" userId="0d83ef31ad4fa6f9" providerId="LiveId" clId="{DACBE82B-AAB1-4DBD-85B8-FE0C44FF43A8}" dt="2025-12-12T12:39:59.690" v="274" actId="26606"/>
          <pc:sldLayoutMkLst>
            <pc:docMk/>
            <pc:sldMasterMk cId="4122426793" sldId="2147483660"/>
            <pc:sldLayoutMk cId="4057972331" sldId="2147483677"/>
          </pc:sldLayoutMkLst>
        </pc:sldLayoutChg>
      </pc:sldMasterChg>
      <pc:sldMasterChg chg="add addSldLayout">
        <pc:chgData name="Joshua Eastgaard" userId="0d83ef31ad4fa6f9" providerId="LiveId" clId="{DACBE82B-AAB1-4DBD-85B8-FE0C44FF43A8}" dt="2025-12-12T12:39:59.690" v="274" actId="26606"/>
        <pc:sldMasterMkLst>
          <pc:docMk/>
          <pc:sldMasterMk cId="1221092951" sldId="2147483750"/>
        </pc:sldMasterMkLst>
        <pc:sldLayoutChg chg="add">
          <pc:chgData name="Joshua Eastgaard" userId="0d83ef31ad4fa6f9" providerId="LiveId" clId="{DACBE82B-AAB1-4DBD-85B8-FE0C44FF43A8}" dt="2025-12-12T12:39:59.690" v="274" actId="26606"/>
          <pc:sldLayoutMkLst>
            <pc:docMk/>
            <pc:sldMasterMk cId="1221092951" sldId="2147483750"/>
            <pc:sldLayoutMk cId="3663198730" sldId="2147483739"/>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1067186424" sldId="2147483740"/>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2546615057" sldId="2147483741"/>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2474091044" sldId="2147483742"/>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3505066809" sldId="2147483743"/>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597227991" sldId="2147483744"/>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1993195340" sldId="2147483745"/>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958016796" sldId="2147483746"/>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1194512820" sldId="2147483747"/>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4114039630" sldId="2147483748"/>
          </pc:sldLayoutMkLst>
        </pc:sldLayoutChg>
        <pc:sldLayoutChg chg="add">
          <pc:chgData name="Joshua Eastgaard" userId="0d83ef31ad4fa6f9" providerId="LiveId" clId="{DACBE82B-AAB1-4DBD-85B8-FE0C44FF43A8}" dt="2025-12-12T12:39:59.690" v="274" actId="26606"/>
          <pc:sldLayoutMkLst>
            <pc:docMk/>
            <pc:sldMasterMk cId="1221092951" sldId="2147483750"/>
            <pc:sldLayoutMk cId="200220800" sldId="21474837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18B9FF-20E4-40E4-9709-57C537703B54}" type="datetimeFigureOut">
              <a:rPr lang="en-CA" smtClean="0"/>
              <a:t>2025-12-15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9F44F4-2BA4-4FF3-B4AF-6661894D96E7}" type="slidenum">
              <a:rPr lang="en-CA" smtClean="0"/>
              <a:t>‹#›</a:t>
            </a:fld>
            <a:endParaRPr lang="en-CA"/>
          </a:p>
        </p:txBody>
      </p:sp>
    </p:spTree>
    <p:extLst>
      <p:ext uri="{BB962C8B-B14F-4D97-AF65-F5344CB8AC3E}">
        <p14:creationId xmlns:p14="http://schemas.microsoft.com/office/powerpoint/2010/main" val="2396665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39F44F4-2BA4-4FF3-B4AF-6661894D96E7}" type="slidenum">
              <a:rPr lang="en-CA" smtClean="0"/>
              <a:t>2</a:t>
            </a:fld>
            <a:endParaRPr lang="en-CA"/>
          </a:p>
        </p:txBody>
      </p:sp>
    </p:spTree>
    <p:extLst>
      <p:ext uri="{BB962C8B-B14F-4D97-AF65-F5344CB8AC3E}">
        <p14:creationId xmlns:p14="http://schemas.microsoft.com/office/powerpoint/2010/main" val="3808710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During repeated lithiation and </a:t>
            </a:r>
            <a:r>
              <a:rPr lang="en-US" dirty="0" err="1"/>
              <a:t>delithiation</a:t>
            </a:r>
            <a:r>
              <a:rPr lang="en-US" dirty="0"/>
              <a:t>, spatial heterogeneity is maintained or amplified. </a:t>
            </a:r>
          </a:p>
          <a:p>
            <a:r>
              <a:rPr lang="en-US" dirty="0"/>
              <a:t>Even if average volume expansion is known, </a:t>
            </a:r>
            <a:r>
              <a:rPr lang="en-US" i="1" dirty="0"/>
              <a:t>local</a:t>
            </a:r>
            <a:r>
              <a:rPr lang="en-US" dirty="0"/>
              <a:t> expansion mismatches dominate mechanical failure.</a:t>
            </a:r>
          </a:p>
          <a:p>
            <a:r>
              <a:rPr lang="en-US" dirty="0"/>
              <a:t>Sharp boundaries generate significant mechanical strain due to constrained expansion</a:t>
            </a:r>
            <a:endParaRPr lang="en-CA" dirty="0"/>
          </a:p>
        </p:txBody>
      </p:sp>
      <p:sp>
        <p:nvSpPr>
          <p:cNvPr id="4" name="Slide Number Placeholder 3"/>
          <p:cNvSpPr>
            <a:spLocks noGrp="1"/>
          </p:cNvSpPr>
          <p:nvPr>
            <p:ph type="sldNum" sz="quarter" idx="5"/>
          </p:nvPr>
        </p:nvSpPr>
        <p:spPr/>
        <p:txBody>
          <a:bodyPr/>
          <a:lstStyle/>
          <a:p>
            <a:fld id="{F39F44F4-2BA4-4FF3-B4AF-6661894D96E7}" type="slidenum">
              <a:rPr lang="en-CA" smtClean="0"/>
              <a:t>3</a:t>
            </a:fld>
            <a:endParaRPr lang="en-CA"/>
          </a:p>
        </p:txBody>
      </p:sp>
    </p:spTree>
    <p:extLst>
      <p:ext uri="{BB962C8B-B14F-4D97-AF65-F5344CB8AC3E}">
        <p14:creationId xmlns:p14="http://schemas.microsoft.com/office/powerpoint/2010/main" val="4254689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SLD: Scattering Length Density</a:t>
            </a:r>
            <a:br>
              <a:rPr lang="en-US" dirty="0"/>
            </a:br>
            <a:r>
              <a:rPr lang="en-US" dirty="0"/>
              <a:t>If all the dots in the SLD VS x were grouped together, that would mean that the lithiation was even. Thus, different parts of the Si are </a:t>
            </a:r>
            <a:r>
              <a:rPr lang="en-US" dirty="0" err="1"/>
              <a:t>lithiated</a:t>
            </a:r>
            <a:r>
              <a:rPr lang="en-US" dirty="0"/>
              <a:t> differently. Even lithiation would mean that for every x, there would be a straight vertical line.</a:t>
            </a:r>
          </a:p>
          <a:p>
            <a:endParaRPr lang="en-US" dirty="0"/>
          </a:p>
          <a:p>
            <a:r>
              <a:rPr lang="en-US" dirty="0"/>
              <a:t>As lithiation proceeds, current decreases while volume expansion continues to increase, indicating ongoing structural changes despite reduced lithium insertion rates.</a:t>
            </a:r>
          </a:p>
          <a:p>
            <a:r>
              <a:rPr lang="en-US" dirty="0"/>
              <a:t>Significant expansion can occur even when current is low, demonstrating that expansion depends on the accumulated lithiation state rather than current alone.</a:t>
            </a:r>
          </a:p>
          <a:p>
            <a:r>
              <a:rPr lang="en-US" dirty="0"/>
              <a:t>Silicon electrodes can exhibit different relative volume expansions at similar lithium contents, depending on the lithiation pathway and current history. This indicates that the mechanical response of silicon is sensitive to lithiation kinetics, not only lithium concentration </a:t>
            </a:r>
          </a:p>
          <a:p>
            <a:endParaRPr lang="en-CA" dirty="0"/>
          </a:p>
        </p:txBody>
      </p:sp>
      <p:sp>
        <p:nvSpPr>
          <p:cNvPr id="4" name="Slide Number Placeholder 3"/>
          <p:cNvSpPr>
            <a:spLocks noGrp="1"/>
          </p:cNvSpPr>
          <p:nvPr>
            <p:ph type="sldNum" sz="quarter" idx="5"/>
          </p:nvPr>
        </p:nvSpPr>
        <p:spPr/>
        <p:txBody>
          <a:bodyPr/>
          <a:lstStyle/>
          <a:p>
            <a:fld id="{F39F44F4-2BA4-4FF3-B4AF-6661894D96E7}" type="slidenum">
              <a:rPr lang="en-CA" smtClean="0"/>
              <a:t>4</a:t>
            </a:fld>
            <a:endParaRPr lang="en-CA"/>
          </a:p>
        </p:txBody>
      </p:sp>
    </p:spTree>
    <p:extLst>
      <p:ext uri="{BB962C8B-B14F-4D97-AF65-F5344CB8AC3E}">
        <p14:creationId xmlns:p14="http://schemas.microsoft.com/office/powerpoint/2010/main" val="3185162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12/15/2025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93195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12/15/2025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58016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12/15/2025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4512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12/15/2025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14039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12/15/2025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220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12/15/2025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0506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12/15/2025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3198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12/15/2025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67186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12/15/2025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6615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12/15/2025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74091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12/15/2025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97227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12/15/2025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092951"/>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43" r:id="rId6"/>
    <p:sldLayoutId id="2147483739" r:id="rId7"/>
    <p:sldLayoutId id="2147483740" r:id="rId8"/>
    <p:sldLayoutId id="2147483741" r:id="rId9"/>
    <p:sldLayoutId id="2147483742" r:id="rId10"/>
    <p:sldLayoutId id="2147483744" r:id="rId11"/>
  </p:sldLayoutIdLst>
  <p:hf sldNum="0" hdr="0" ftr="0" dt="0"/>
  <p:txStyles>
    <p:titleStyle>
      <a:lvl1pPr algn="l" defTabSz="914400" rtl="0" eaLnBrk="1" latinLnBrk="0" hangingPunct="1">
        <a:lnSpc>
          <a:spcPct val="90000"/>
        </a:lnSpc>
        <a:spcBef>
          <a:spcPct val="0"/>
        </a:spcBef>
        <a:buNone/>
        <a:defRPr sz="53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1DA5DB-6526-CE43-4590-EDFE6596B3DE}"/>
              </a:ext>
            </a:extLst>
          </p:cNvPr>
          <p:cNvSpPr>
            <a:spLocks noGrp="1"/>
          </p:cNvSpPr>
          <p:nvPr>
            <p:ph type="ctrTitle"/>
          </p:nvPr>
        </p:nvSpPr>
        <p:spPr>
          <a:xfrm>
            <a:off x="648929" y="639097"/>
            <a:ext cx="6253317" cy="3686015"/>
          </a:xfrm>
        </p:spPr>
        <p:txBody>
          <a:bodyPr>
            <a:normAutofit/>
          </a:bodyPr>
          <a:lstStyle/>
          <a:p>
            <a:r>
              <a:rPr lang="en-US" sz="5600" dirty="0"/>
              <a:t>Change in Si Volume in correlation to electrochemical Lithiation</a:t>
            </a:r>
            <a:endParaRPr lang="en-CA" sz="5600" dirty="0"/>
          </a:p>
        </p:txBody>
      </p:sp>
      <p:sp>
        <p:nvSpPr>
          <p:cNvPr id="3" name="Subtitle 2">
            <a:extLst>
              <a:ext uri="{FF2B5EF4-FFF2-40B4-BE49-F238E27FC236}">
                <a16:creationId xmlns:a16="http://schemas.microsoft.com/office/drawing/2014/main" id="{E480A477-E835-4DEF-2F32-F03EA855EA85}"/>
              </a:ext>
            </a:extLst>
          </p:cNvPr>
          <p:cNvSpPr>
            <a:spLocks noGrp="1"/>
          </p:cNvSpPr>
          <p:nvPr>
            <p:ph type="subTitle" idx="1"/>
          </p:nvPr>
        </p:nvSpPr>
        <p:spPr>
          <a:xfrm>
            <a:off x="632899" y="4672739"/>
            <a:ext cx="6269347" cy="1021498"/>
          </a:xfrm>
        </p:spPr>
        <p:txBody>
          <a:bodyPr>
            <a:normAutofit/>
          </a:bodyPr>
          <a:lstStyle/>
          <a:p>
            <a:r>
              <a:rPr lang="en-US">
                <a:solidFill>
                  <a:schemeClr val="tx1">
                    <a:lumMod val="85000"/>
                    <a:lumOff val="15000"/>
                  </a:schemeClr>
                </a:solidFill>
              </a:rPr>
              <a:t>Initial Findings and Discussion</a:t>
            </a:r>
          </a:p>
          <a:p>
            <a:r>
              <a:rPr lang="en-CA">
                <a:solidFill>
                  <a:schemeClr val="tx1">
                    <a:lumMod val="85000"/>
                    <a:lumOff val="15000"/>
                  </a:schemeClr>
                </a:solidFill>
              </a:rPr>
              <a:t>Created By: Joshua Eastgaard</a:t>
            </a:r>
            <a:endParaRPr lang="en-US">
              <a:solidFill>
                <a:schemeClr val="tx1">
                  <a:lumMod val="85000"/>
                  <a:lumOff val="15000"/>
                </a:schemeClr>
              </a:solidFill>
            </a:endParaRPr>
          </a:p>
        </p:txBody>
      </p:sp>
      <p:cxnSp>
        <p:nvCxnSpPr>
          <p:cNvPr id="11" name="Straight Connector 10">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CF3C99C-CF1E-65D2-43C7-E13A37475D38}"/>
              </a:ext>
            </a:extLst>
          </p:cNvPr>
          <p:cNvPicPr>
            <a:picLocks noChangeAspect="1"/>
          </p:cNvPicPr>
          <p:nvPr/>
        </p:nvPicPr>
        <p:blipFill>
          <a:blip r:embed="rId2"/>
          <a:srcRect l="28686" r="24001" b="1"/>
          <a:stretch>
            <a:fillRect/>
          </a:stretch>
        </p:blipFill>
        <p:spPr>
          <a:xfrm>
            <a:off x="7556686" y="1"/>
            <a:ext cx="4635315" cy="6857999"/>
          </a:xfrm>
          <a:prstGeom prst="rect">
            <a:avLst/>
          </a:prstGeom>
        </p:spPr>
      </p:pic>
    </p:spTree>
    <p:extLst>
      <p:ext uri="{BB962C8B-B14F-4D97-AF65-F5344CB8AC3E}">
        <p14:creationId xmlns:p14="http://schemas.microsoft.com/office/powerpoint/2010/main" val="361259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5EEFEB96-DD5C-CC19-096D-28E3DB790AB8}"/>
              </a:ext>
            </a:extLst>
          </p:cNvPr>
          <p:cNvSpPr>
            <a:spLocks noGrp="1"/>
          </p:cNvSpPr>
          <p:nvPr>
            <p:ph type="title"/>
          </p:nvPr>
        </p:nvSpPr>
        <p:spPr>
          <a:xfrm>
            <a:off x="1097280" y="516835"/>
            <a:ext cx="5977937" cy="1666501"/>
          </a:xfrm>
        </p:spPr>
        <p:txBody>
          <a:bodyPr>
            <a:normAutofit/>
          </a:bodyPr>
          <a:lstStyle/>
          <a:p>
            <a:r>
              <a:rPr lang="en-US" sz="4800" dirty="0">
                <a:solidFill>
                  <a:srgbClr val="FFFFFF"/>
                </a:solidFill>
              </a:rPr>
              <a:t>Core Findings</a:t>
            </a:r>
            <a:endParaRPr lang="en-CA" sz="4800" dirty="0">
              <a:solidFill>
                <a:srgbClr val="FFFFFF"/>
              </a:solidFill>
            </a:endParaRPr>
          </a:p>
        </p:txBody>
      </p:sp>
      <p:cxnSp>
        <p:nvCxnSpPr>
          <p:cNvPr id="25" name="Straight Connector 24">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5896" y="2353592"/>
            <a:ext cx="53035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A4A7FB3-0F80-8B20-C5F1-8D2DE2176AB4}"/>
              </a:ext>
            </a:extLst>
          </p:cNvPr>
          <p:cNvSpPr>
            <a:spLocks noGrp="1"/>
          </p:cNvSpPr>
          <p:nvPr>
            <p:ph idx="1"/>
          </p:nvPr>
        </p:nvSpPr>
        <p:spPr>
          <a:xfrm>
            <a:off x="1097279" y="2546223"/>
            <a:ext cx="6123030" cy="3871825"/>
          </a:xfrm>
        </p:spPr>
        <p:txBody>
          <a:bodyPr>
            <a:normAutofit lnSpcReduction="10000"/>
          </a:bodyPr>
          <a:lstStyle/>
          <a:p>
            <a:pPr marL="0" indent="0">
              <a:lnSpc>
                <a:spcPct val="90000"/>
              </a:lnSpc>
              <a:buNone/>
            </a:pPr>
            <a:r>
              <a:rPr lang="en-US" sz="2000" dirty="0">
                <a:solidFill>
                  <a:srgbClr val="FFFFFF"/>
                </a:solidFill>
              </a:rPr>
              <a:t>Lithium uptake is directly responsible for silicon volume expansion.</a:t>
            </a:r>
          </a:p>
          <a:p>
            <a:pPr lvl="1">
              <a:lnSpc>
                <a:spcPct val="90000"/>
              </a:lnSpc>
            </a:pPr>
            <a:r>
              <a:rPr lang="en-US" dirty="0">
                <a:solidFill>
                  <a:srgbClr val="FFFFFF"/>
                </a:solidFill>
              </a:rPr>
              <a:t>The amount of lithium inserted into silicon directly determines the degree of volume expansion. </a:t>
            </a:r>
          </a:p>
          <a:p>
            <a:pPr marL="0">
              <a:lnSpc>
                <a:spcPct val="90000"/>
              </a:lnSpc>
              <a:buNone/>
            </a:pPr>
            <a:r>
              <a:rPr lang="en-US" sz="2000" dirty="0">
                <a:solidFill>
                  <a:srgbClr val="FFFFFF"/>
                </a:solidFill>
              </a:rPr>
              <a:t>Silicon undergoes alloying reactions with lithium, forming a series of Li</a:t>
            </a:r>
            <a:r>
              <a:rPr lang="en-US" sz="2000" b="1" i="1" baseline="-25000" dirty="0">
                <a:solidFill>
                  <a:srgbClr val="FFFFFF"/>
                </a:solidFill>
              </a:rPr>
              <a:t>x </a:t>
            </a:r>
            <a:r>
              <a:rPr lang="en-US" sz="2000" dirty="0">
                <a:solidFill>
                  <a:srgbClr val="FFFFFF"/>
                </a:solidFill>
              </a:rPr>
              <a:t>Si phases.</a:t>
            </a:r>
          </a:p>
          <a:p>
            <a:pPr marL="0">
              <a:lnSpc>
                <a:spcPct val="90000"/>
              </a:lnSpc>
              <a:buNone/>
            </a:pPr>
            <a:r>
              <a:rPr lang="en-US" sz="2000" dirty="0">
                <a:solidFill>
                  <a:srgbClr val="FFFFFF"/>
                </a:solidFill>
              </a:rPr>
              <a:t>This volume expansion is non-uniform creating stress gradients inside the material. </a:t>
            </a:r>
          </a:p>
          <a:p>
            <a:pPr marL="0">
              <a:lnSpc>
                <a:spcPct val="90000"/>
              </a:lnSpc>
              <a:buNone/>
            </a:pPr>
            <a:r>
              <a:rPr lang="en-US" sz="2000" dirty="0">
                <a:solidFill>
                  <a:srgbClr val="FFFFFF"/>
                </a:solidFill>
              </a:rPr>
              <a:t>Reversibility of volume change is limited.</a:t>
            </a:r>
          </a:p>
          <a:p>
            <a:pPr marL="0">
              <a:lnSpc>
                <a:spcPct val="90000"/>
              </a:lnSpc>
              <a:buNone/>
            </a:pPr>
            <a:r>
              <a:rPr lang="en-US" sz="2000" dirty="0">
                <a:solidFill>
                  <a:srgbClr val="FFFFFF"/>
                </a:solidFill>
              </a:rPr>
              <a:t>Volume expansion is the root cause of mechanical degradation.</a:t>
            </a:r>
          </a:p>
        </p:txBody>
      </p:sp>
      <p:pic>
        <p:nvPicPr>
          <p:cNvPr id="10" name="Picture 9" descr="A graph of a stress-strain curve&#10;&#10;AI-generated content may be incorrect.">
            <a:extLst>
              <a:ext uri="{FF2B5EF4-FFF2-40B4-BE49-F238E27FC236}">
                <a16:creationId xmlns:a16="http://schemas.microsoft.com/office/drawing/2014/main" id="{9A0AC6B4-C44D-A3E1-15D1-9D9761CF1A42}"/>
              </a:ext>
            </a:extLst>
          </p:cNvPr>
          <p:cNvPicPr>
            <a:picLocks noChangeAspect="1"/>
          </p:cNvPicPr>
          <p:nvPr/>
        </p:nvPicPr>
        <p:blipFill>
          <a:blip r:embed="rId3"/>
          <a:stretch>
            <a:fillRect/>
          </a:stretch>
        </p:blipFill>
        <p:spPr>
          <a:xfrm>
            <a:off x="7711037" y="0"/>
            <a:ext cx="4480948" cy="6858000"/>
          </a:xfrm>
          <a:prstGeom prst="rect">
            <a:avLst/>
          </a:prstGeom>
        </p:spPr>
      </p:pic>
    </p:spTree>
    <p:extLst>
      <p:ext uri="{BB962C8B-B14F-4D97-AF65-F5344CB8AC3E}">
        <p14:creationId xmlns:p14="http://schemas.microsoft.com/office/powerpoint/2010/main" val="47957158"/>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F1E5-547D-CCE9-E416-31D841EA5130}"/>
              </a:ext>
            </a:extLst>
          </p:cNvPr>
          <p:cNvSpPr>
            <a:spLocks noGrp="1"/>
          </p:cNvSpPr>
          <p:nvPr>
            <p:ph type="title"/>
          </p:nvPr>
        </p:nvSpPr>
        <p:spPr/>
        <p:txBody>
          <a:bodyPr>
            <a:normAutofit fontScale="90000"/>
          </a:bodyPr>
          <a:lstStyle/>
          <a:p>
            <a:r>
              <a:rPr lang="en-US" dirty="0"/>
              <a:t>Non-Linear/Non-Uniform Volume Expansion:</a:t>
            </a:r>
            <a:endParaRPr lang="en-CA" dirty="0"/>
          </a:p>
        </p:txBody>
      </p:sp>
      <p:pic>
        <p:nvPicPr>
          <p:cNvPr id="5" name="Content Placeholder 4" descr="A close-up of a graph&#10;&#10;AI-generated content may be incorrect.">
            <a:extLst>
              <a:ext uri="{FF2B5EF4-FFF2-40B4-BE49-F238E27FC236}">
                <a16:creationId xmlns:a16="http://schemas.microsoft.com/office/drawing/2014/main" id="{442BFF78-04D9-CE07-4C44-24723A635CBC}"/>
              </a:ext>
            </a:extLst>
          </p:cNvPr>
          <p:cNvPicPr>
            <a:picLocks noGrp="1" noChangeAspect="1"/>
          </p:cNvPicPr>
          <p:nvPr>
            <p:ph idx="1"/>
          </p:nvPr>
        </p:nvPicPr>
        <p:blipFill>
          <a:blip r:embed="rId3"/>
          <a:stretch>
            <a:fillRect/>
          </a:stretch>
        </p:blipFill>
        <p:spPr>
          <a:xfrm>
            <a:off x="4312596" y="2316843"/>
            <a:ext cx="6843084" cy="3492272"/>
          </a:xfrm>
          <a:prstGeom prst="rect">
            <a:avLst/>
          </a:prstGeom>
        </p:spPr>
      </p:pic>
      <p:sp>
        <p:nvSpPr>
          <p:cNvPr id="6" name="TextBox 5">
            <a:extLst>
              <a:ext uri="{FF2B5EF4-FFF2-40B4-BE49-F238E27FC236}">
                <a16:creationId xmlns:a16="http://schemas.microsoft.com/office/drawing/2014/main" id="{50F4B973-3FB6-B0B8-E7E0-7A143C00CBB0}"/>
              </a:ext>
            </a:extLst>
          </p:cNvPr>
          <p:cNvSpPr txBox="1"/>
          <p:nvPr/>
        </p:nvSpPr>
        <p:spPr>
          <a:xfrm>
            <a:off x="1162132" y="2127656"/>
            <a:ext cx="3150464" cy="3970318"/>
          </a:xfrm>
          <a:prstGeom prst="rect">
            <a:avLst/>
          </a:prstGeom>
          <a:noFill/>
        </p:spPr>
        <p:txBody>
          <a:bodyPr wrap="square" rtlCol="0">
            <a:spAutoFit/>
          </a:bodyPr>
          <a:lstStyle/>
          <a:p>
            <a:r>
              <a:rPr lang="en-US" b="1" dirty="0"/>
              <a:t>Important Points to Observe:</a:t>
            </a:r>
            <a:endParaRPr lang="en-CA" b="1" dirty="0"/>
          </a:p>
          <a:p>
            <a:pPr marL="285750" indent="-285750">
              <a:buFont typeface="Arial" panose="020B0604020202020204" pitchFamily="34" charset="0"/>
              <a:buChar char="•"/>
            </a:pPr>
            <a:r>
              <a:rPr lang="en-CA" dirty="0"/>
              <a:t>Initial stress formation, mechanical fractures, and irreversible side reactions occur during initial charge/discharge.</a:t>
            </a:r>
          </a:p>
          <a:p>
            <a:pPr marL="285750" indent="-285750">
              <a:buFont typeface="Arial" panose="020B0604020202020204" pitchFamily="34" charset="0"/>
              <a:buChar char="•"/>
            </a:pPr>
            <a:r>
              <a:rPr lang="en-CA" dirty="0"/>
              <a:t>Spatially heterogeneous (lithium reacts locally, creating regions with different </a:t>
            </a:r>
            <a:r>
              <a:rPr lang="en-CA" b="1" dirty="0"/>
              <a:t>Li </a:t>
            </a:r>
            <a:r>
              <a:rPr lang="en-CA" dirty="0"/>
              <a:t>con.)</a:t>
            </a:r>
          </a:p>
          <a:p>
            <a:pPr marL="285750" indent="-285750">
              <a:buFont typeface="Arial" panose="020B0604020202020204" pitchFamily="34" charset="0"/>
              <a:buChar char="•"/>
            </a:pPr>
            <a:r>
              <a:rPr lang="en-US" dirty="0"/>
              <a:t>Differences in lithiation state create sharp boundaries between expanded and less-expanded regions.</a:t>
            </a:r>
            <a:endParaRPr lang="en-CA"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589434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40791F6-715D-481A-9C4A-3645AECFD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2A4DE4-D878-372D-118D-D6B03DDD5714}"/>
              </a:ext>
            </a:extLst>
          </p:cNvPr>
          <p:cNvSpPr>
            <a:spLocks noGrp="1"/>
          </p:cNvSpPr>
          <p:nvPr>
            <p:ph type="title"/>
          </p:nvPr>
        </p:nvSpPr>
        <p:spPr>
          <a:xfrm>
            <a:off x="5117309" y="634946"/>
            <a:ext cx="6432434" cy="1450757"/>
          </a:xfrm>
        </p:spPr>
        <p:txBody>
          <a:bodyPr>
            <a:normAutofit/>
          </a:bodyPr>
          <a:lstStyle/>
          <a:p>
            <a:r>
              <a:rPr lang="en-US" sz="4400" dirty="0"/>
              <a:t>Current Vs Lithiation of Si:</a:t>
            </a:r>
            <a:endParaRPr lang="en-CA" sz="4400" dirty="0"/>
          </a:p>
        </p:txBody>
      </p:sp>
      <p:pic>
        <p:nvPicPr>
          <p:cNvPr id="7" name="Content Placeholder 6"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7A357DD7-1C66-203F-B95A-2A80C14BB083}"/>
              </a:ext>
            </a:extLst>
          </p:cNvPr>
          <p:cNvPicPr>
            <a:picLocks noChangeAspect="1"/>
          </p:cNvPicPr>
          <p:nvPr/>
        </p:nvPicPr>
        <p:blipFill>
          <a:blip r:embed="rId3"/>
          <a:stretch>
            <a:fillRect/>
          </a:stretch>
        </p:blipFill>
        <p:spPr>
          <a:xfrm>
            <a:off x="368958" y="3531948"/>
            <a:ext cx="4200168" cy="2131584"/>
          </a:xfrm>
          <a:prstGeom prst="rect">
            <a:avLst/>
          </a:prstGeom>
        </p:spPr>
      </p:pic>
      <p:cxnSp>
        <p:nvCxnSpPr>
          <p:cNvPr id="23" name="Straight Connector 22">
            <a:extLst>
              <a:ext uri="{FF2B5EF4-FFF2-40B4-BE49-F238E27FC236}">
                <a16:creationId xmlns:a16="http://schemas.microsoft.com/office/drawing/2014/main" id="{740F83A4-FAC4-4867-95A5-BBFD280C7B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0720" y="2267421"/>
            <a:ext cx="60350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graph of a red line&#10;&#10;AI-generated content may be incorrect.">
            <a:extLst>
              <a:ext uri="{FF2B5EF4-FFF2-40B4-BE49-F238E27FC236}">
                <a16:creationId xmlns:a16="http://schemas.microsoft.com/office/drawing/2014/main" id="{C6FA9B8A-8907-2131-0FB5-84C52DF391BF}"/>
              </a:ext>
            </a:extLst>
          </p:cNvPr>
          <p:cNvPicPr>
            <a:picLocks noChangeAspect="1"/>
          </p:cNvPicPr>
          <p:nvPr/>
        </p:nvPicPr>
        <p:blipFill>
          <a:blip r:embed="rId4"/>
          <a:stretch>
            <a:fillRect/>
          </a:stretch>
        </p:blipFill>
        <p:spPr>
          <a:xfrm>
            <a:off x="180803" y="943164"/>
            <a:ext cx="4388323" cy="1645620"/>
          </a:xfrm>
          <a:prstGeom prst="rect">
            <a:avLst/>
          </a:prstGeom>
        </p:spPr>
      </p:pic>
      <p:sp>
        <p:nvSpPr>
          <p:cNvPr id="18" name="Content Placeholder 17">
            <a:extLst>
              <a:ext uri="{FF2B5EF4-FFF2-40B4-BE49-F238E27FC236}">
                <a16:creationId xmlns:a16="http://schemas.microsoft.com/office/drawing/2014/main" id="{08DA5E4B-7DB9-64F5-AD16-BC3D2BFDC944}"/>
              </a:ext>
            </a:extLst>
          </p:cNvPr>
          <p:cNvSpPr>
            <a:spLocks noGrp="1"/>
          </p:cNvSpPr>
          <p:nvPr>
            <p:ph idx="1"/>
          </p:nvPr>
        </p:nvSpPr>
        <p:spPr>
          <a:xfrm>
            <a:off x="5180720" y="2407436"/>
            <a:ext cx="6369022" cy="3461658"/>
          </a:xfrm>
        </p:spPr>
        <p:txBody>
          <a:bodyPr>
            <a:normAutofit lnSpcReduction="10000"/>
          </a:bodyPr>
          <a:lstStyle/>
          <a:p>
            <a:pPr>
              <a:buFont typeface="Arial" panose="020B0604020202020204" pitchFamily="34" charset="0"/>
              <a:buChar char="•"/>
            </a:pPr>
            <a:r>
              <a:rPr lang="en-CA" dirty="0"/>
              <a:t> During potentiostatic lithiation , e</a:t>
            </a:r>
            <a:r>
              <a:rPr lang="en-US" dirty="0" err="1"/>
              <a:t>lectrochemical</a:t>
            </a:r>
            <a:r>
              <a:rPr lang="en-US" dirty="0"/>
              <a:t> current reflects the rate of lithium insertion into silicon.</a:t>
            </a:r>
          </a:p>
          <a:p>
            <a:pPr>
              <a:buFont typeface="Arial" panose="020B0604020202020204" pitchFamily="34" charset="0"/>
              <a:buChar char="•"/>
            </a:pPr>
            <a:r>
              <a:rPr lang="en-US" dirty="0"/>
              <a:t> Different current regimes correspond to different expansion behaviors.</a:t>
            </a:r>
          </a:p>
          <a:p>
            <a:pPr>
              <a:buFont typeface="Arial" panose="020B0604020202020204" pitchFamily="34" charset="0"/>
              <a:buChar char="•"/>
            </a:pPr>
            <a:r>
              <a:rPr lang="en-US" dirty="0"/>
              <a:t> Nonlinear relationship between current and volume expansion</a:t>
            </a:r>
          </a:p>
          <a:p>
            <a:pPr>
              <a:buFont typeface="Arial" panose="020B0604020202020204" pitchFamily="34" charset="0"/>
              <a:buChar char="•"/>
            </a:pPr>
            <a:r>
              <a:rPr lang="en-US" dirty="0"/>
              <a:t> Distinct volume increases at similar states of charge</a:t>
            </a:r>
          </a:p>
        </p:txBody>
      </p:sp>
      <p:sp>
        <p:nvSpPr>
          <p:cNvPr id="25" name="Rectangle 24">
            <a:extLst>
              <a:ext uri="{FF2B5EF4-FFF2-40B4-BE49-F238E27FC236}">
                <a16:creationId xmlns:a16="http://schemas.microsoft.com/office/drawing/2014/main" id="{811CBAFA-D7E0-40A7-BB94-2C05304B4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3378928321"/>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Garamon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217</TotalTime>
  <Words>379</Words>
  <Application>Microsoft Office PowerPoint</Application>
  <PresentationFormat>Widescreen</PresentationFormat>
  <Paragraphs>31</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Arial</vt:lpstr>
      <vt:lpstr>Calibri</vt:lpstr>
      <vt:lpstr>Garamond</vt:lpstr>
      <vt:lpstr>RetrospectVTI</vt:lpstr>
      <vt:lpstr>Change in Si Volume in correlation to electrochemical Lithiation</vt:lpstr>
      <vt:lpstr>Core Findings</vt:lpstr>
      <vt:lpstr>Non-Linear/Non-Uniform Volume Expansion:</vt:lpstr>
      <vt:lpstr>Current Vs Lithiation of 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Eastgaard</dc:creator>
  <cp:lastModifiedBy>Josh Eastgaard</cp:lastModifiedBy>
  <cp:revision>2</cp:revision>
  <dcterms:created xsi:type="dcterms:W3CDTF">2025-12-12T12:35:26Z</dcterms:created>
  <dcterms:modified xsi:type="dcterms:W3CDTF">2025-12-15T14:47:05Z</dcterms:modified>
</cp:coreProperties>
</file>